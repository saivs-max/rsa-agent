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62E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411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7D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PROGRAM · INSTACART / MAPLEBEAR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138160" y="411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REVIEW · JULY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64008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04672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AACC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11155680" cy="22860"/>
          </a:xfrm>
          <a:prstGeom prst="rect">
            <a:avLst/>
          </a:prstGeom>
          <a:solidFill>
            <a:srgbClr val="2D504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3434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strategy · ROVI improvements · cost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638251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Sai V.  ·  W&amp;M Operations  ·  July 2026  ·  Instacart / Maplebear Inc.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411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AT A GLANCE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138160" y="411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PROGRAM ·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274320"/>
            <a:ext cx="548640" cy="34747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6385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420624"/>
            <a:ext cx="11475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Glance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7472" y="1316736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Truno Invoice Cost Breakdown · May–Jun 2026 · 46 invoices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810512"/>
            <a:ext cx="2148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810512"/>
            <a:ext cx="54864" cy="4572000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198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6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1984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Visits Executed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950208"/>
            <a:ext cx="1984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Truno service visits invoiced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May–Jun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42616" y="1810512"/>
            <a:ext cx="2148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42616" y="1810512"/>
            <a:ext cx="54864" cy="4572000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6" name="Text 14"/>
          <p:cNvSpPr/>
          <p:nvPr/>
        </p:nvSpPr>
        <p:spPr>
          <a:xfrm>
            <a:off x="2752344" y="2011680"/>
            <a:ext cx="198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D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2752344" y="3429000"/>
            <a:ext cx="1984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Carts Serviced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52344" y="3950208"/>
            <a:ext cx="1984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carts inspected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visits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810512"/>
            <a:ext cx="2148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810512"/>
            <a:ext cx="54864" cy="4572000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2011680"/>
            <a:ext cx="198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6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5047488" y="3429000"/>
            <a:ext cx="1984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Visits Voided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47488" y="3950208"/>
            <a:ext cx="1984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Re-visit credits issued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no additional cost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32904" y="1810512"/>
            <a:ext cx="2148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32904" y="1810512"/>
            <a:ext cx="54864" cy="4572000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26" name="Text 24"/>
          <p:cNvSpPr/>
          <p:nvPr/>
        </p:nvSpPr>
        <p:spPr>
          <a:xfrm>
            <a:off x="7342632" y="2011680"/>
            <a:ext cx="198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~$5,400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342632" y="3429000"/>
            <a:ext cx="1984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Recovered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42632" y="3950208"/>
            <a:ext cx="1984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voided visit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(Truno)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28048" y="1810512"/>
            <a:ext cx="2148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28048" y="1810512"/>
            <a:ext cx="54864" cy="4572000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1" name="Text 29"/>
          <p:cNvSpPr/>
          <p:nvPr/>
        </p:nvSpPr>
        <p:spPr>
          <a:xfrm>
            <a:off x="9637776" y="2011680"/>
            <a:ext cx="1984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6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5.7×</a:t>
            </a:r>
            <a:endParaRPr lang="en-US" sz="4600" dirty="0"/>
          </a:p>
        </p:txBody>
      </p:sp>
      <p:sp>
        <p:nvSpPr>
          <p:cNvPr id="32" name="Text 30"/>
          <p:cNvSpPr/>
          <p:nvPr/>
        </p:nvSpPr>
        <p:spPr>
          <a:xfrm>
            <a:off x="9637776" y="3429000"/>
            <a:ext cx="1984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Advantage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37776" y="3950208"/>
            <a:ext cx="1984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model vs.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operations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7472" y="6601968"/>
            <a:ext cx="11475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Truno Invoice Cost Breakdown · 46 invoices (45 service + 1 hardware) · May–Jun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411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· VENDOR OPERATIONS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138160" y="411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PROGRAM ·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274320"/>
            <a:ext cx="548640" cy="34747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6385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420624"/>
            <a:ext cx="11475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Highlights — Last 30 Days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47472" y="1444752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444752"/>
            <a:ext cx="54864" cy="2331720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609344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1865376"/>
            <a:ext cx="5413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Weight Standards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" y="2496312"/>
            <a:ext cx="54132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Truno issued new weights to meet the updated 80-lb compliance requirement, ensuring calibrations are held to the latest technical standard.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2784" y="1444752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444752"/>
            <a:ext cx="54864" cy="2331720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1609344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55664" y="1865376"/>
            <a:ext cx="5413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$5,400 in Recovered Value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55664" y="2496312"/>
            <a:ext cx="54132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Truno visits were voided. Truno will compensate with upcoming re-visits at no additional cost — recovering ~$5,400 in value.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" y="3913632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913632"/>
            <a:ext cx="54864" cy="2331720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4078224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RESPONSE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4334256"/>
            <a:ext cx="5413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Expedite — Sprouts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" y="4965192"/>
            <a:ext cx="54132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Sprouts required an urgent RSA inspection. Coordinated with Truno to expedite the visit within 24 hours, keeping the store on schedule.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72784" y="3913632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3913632"/>
            <a:ext cx="54864" cy="2331720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25" name="Text 23"/>
          <p:cNvSpPr/>
          <p:nvPr/>
        </p:nvSpPr>
        <p:spPr>
          <a:xfrm>
            <a:off x="6455664" y="4078224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55664" y="4334256"/>
            <a:ext cx="5413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$1,100 Reduction — Blackthorn VA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55664" y="4965192"/>
            <a:ext cx="54132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Blackthorn (Virginia) as an additional inspection partner. Negotiated a $1,100 reduction tied to cancelled visits.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411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· PLATFORM &amp; VENDOR STRATEGY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138160" y="411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PROGRAM ·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274320"/>
            <a:ext cx="548640" cy="34747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6385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420624"/>
            <a:ext cx="11475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Highlights — Last 30 Days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47472" y="1444752"/>
            <a:ext cx="3785616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444752"/>
            <a:ext cx="3785616" cy="804672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490472"/>
            <a:ext cx="3529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ROVI &amp; WEBAPP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" y="1920240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Virtual Intelligence + Platform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" y="2377440"/>
            <a:ext cx="352958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Agent (ROVI) now handles scheduling, reminders, and form ingestion end-to-end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directory validated against 148 live stores; Truno matching bug fixed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 automated tests; 64 stale carts reconciled in bulk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reminders fully migrated from Google Apps Script to Python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1444752"/>
            <a:ext cx="3785616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444752"/>
            <a:ext cx="3785616" cy="804672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15" name="Text 13"/>
          <p:cNvSpPr/>
          <p:nvPr/>
        </p:nvSpPr>
        <p:spPr>
          <a:xfrm>
            <a:off x="4462272" y="1490472"/>
            <a:ext cx="3529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VENDOR REQUIREMENT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62272" y="1920240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CSM to finalize list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62272" y="2377440"/>
            <a:ext cx="352958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retailers mandate pre-approved vendors for on-site inspections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non-approved vendors risks compliance certification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single-vendor model is not viable for the full fleet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Finalizing the approved-vendor list by retailer with CSM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47888" y="1444752"/>
            <a:ext cx="3785616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47888" y="1444752"/>
            <a:ext cx="3785616" cy="804672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490472"/>
            <a:ext cx="3529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DUMAC: $200 / VISIT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1920240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confirmed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2480" y="2377440"/>
            <a:ext cx="352958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DUMAC agreed to support RSA visits at $200 flat per visit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 cheaper per visit vs. Truno's ~$244 average (~$8,100/yr savings)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specific retailer accounts — not a Truno substitute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scheduling competition between Truno and DUMAC across stores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411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STRATEGY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138160" y="411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PROGRAM ·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274320"/>
            <a:ext cx="548640" cy="34747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6385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420624"/>
            <a:ext cx="11475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Multi-Vendor Strategy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7472" y="1316736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Retailer-approved vendor requirements make a multi-vendor model essential — not optional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810512"/>
            <a:ext cx="3785616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810512"/>
            <a:ext cx="3785616" cy="109728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847088"/>
            <a:ext cx="3529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Truno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2064" y="248716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National Vendor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" y="3017520"/>
            <a:ext cx="3465576" cy="658368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3580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~$244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304288" y="303580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visit avg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" y="3794760"/>
            <a:ext cx="3529584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coverage — primary vendor for most accounts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tracker sync via RSA Agent (live)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equipment, cert &amp; re-inspection liability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visits · $11,224 in May–Jun 2026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1810512"/>
            <a:ext cx="3785616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810512"/>
            <a:ext cx="3785616" cy="109728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19" name="Text 17"/>
          <p:cNvSpPr/>
          <p:nvPr/>
        </p:nvSpPr>
        <p:spPr>
          <a:xfrm>
            <a:off x="4462272" y="1847088"/>
            <a:ext cx="3529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DUMAC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462272" y="248716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Retailer-Mandated Accounts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62272" y="3017520"/>
            <a:ext cx="3465576" cy="658368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22" name="Text 20"/>
          <p:cNvSpPr/>
          <p:nvPr/>
        </p:nvSpPr>
        <p:spPr>
          <a:xfrm>
            <a:off x="4498848" y="303580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54496" y="303580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visit flat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62272" y="3794760"/>
            <a:ext cx="3529584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specific retailer agreements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 cheaper per visit vs. Truno average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confirmed — ready to activate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scheduling competition with Truno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47888" y="1810512"/>
            <a:ext cx="3785616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7888" y="1810512"/>
            <a:ext cx="3785616" cy="109728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1847088"/>
            <a:ext cx="3529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Winter Scales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412480" y="248716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Cost Offset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12480" y="3017520"/>
            <a:ext cx="3465576" cy="658368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30" name="Text 28"/>
          <p:cNvSpPr/>
          <p:nvPr/>
        </p:nvSpPr>
        <p:spPr>
          <a:xfrm>
            <a:off x="8449056" y="303580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TBD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204704" y="303580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stores only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3794760"/>
            <a:ext cx="3529584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NJ-approved specialist vendor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Truno volume &amp; cost in dense NJ markets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Email-scheduled via RSA Agent (live)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model exact NJ savings vs. Truno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411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138160" y="411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PROGRAM ·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274320"/>
            <a:ext cx="548640" cy="34747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6385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420624"/>
            <a:ext cx="11475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 Visit — Vendor Comparison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7472" y="1316736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45 Truno service visits, May–Jun 2026 · All figures per single visit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810512"/>
            <a:ext cx="5029200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810512"/>
            <a:ext cx="5029200" cy="77724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470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" y="230428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National Vendor · variable rate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2724912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D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~$226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530352" y="37673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visit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133088"/>
            <a:ext cx="4663440" cy="22860"/>
          </a:xfrm>
          <a:prstGeom prst="rect">
            <a:avLst/>
          </a:prstGeom>
          <a:solidFill>
            <a:srgbClr val="E0E0D8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426110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(avg)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856232" y="426110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53512" y="4261104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by complexity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473659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856232" y="473659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53512" y="4736592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across all visits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52120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(avg)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856232" y="521208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953512" y="5212080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state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5705856"/>
            <a:ext cx="4663440" cy="22860"/>
          </a:xfrm>
          <a:prstGeom prst="rect">
            <a:avLst/>
          </a:prstGeom>
          <a:solidFill>
            <a:srgbClr val="E0E0D8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5806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09344" y="580644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 min  ·  $583 max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0352" y="60533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(basic single-cart, no-tax state) → (20-cart complex visit)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50992" y="1810512"/>
            <a:ext cx="6190488" cy="45720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1810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Component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11312" y="18105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74352" y="18105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DUMAC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137392" y="1810512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50992" y="2267712"/>
            <a:ext cx="6190488" cy="576072"/>
          </a:xfrm>
          <a:prstGeom prst="rect">
            <a:avLst/>
          </a:prstGeom>
          <a:solidFill>
            <a:srgbClr val="F8F8F6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340864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11312" y="234086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~$143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674352" y="234086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137392" y="2340864"/>
            <a:ext cx="704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50992" y="2862072"/>
            <a:ext cx="61904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2935224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211312" y="29352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674352" y="29352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1137392" y="2935224"/>
            <a:ext cx="704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50992" y="3456432"/>
            <a:ext cx="6190488" cy="576072"/>
          </a:xfrm>
          <a:prstGeom prst="rect">
            <a:avLst/>
          </a:prstGeom>
          <a:solidFill>
            <a:srgbClr val="F8F8F6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3529584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211312" y="35295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674352" y="35295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1137392" y="3529584"/>
            <a:ext cx="704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650992" y="4050792"/>
            <a:ext cx="6190488" cy="576072"/>
          </a:xfrm>
          <a:prstGeom prst="rect">
            <a:avLst/>
          </a:prstGeom>
          <a:solidFill>
            <a:srgbClr val="E8F4EC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4123944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total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211312" y="412394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~$226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674352" y="412394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11137392" y="4123944"/>
            <a:ext cx="704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650992" y="4645152"/>
            <a:ext cx="6190488" cy="576072"/>
          </a:xfrm>
          <a:prstGeom prst="rect">
            <a:avLst/>
          </a:prstGeom>
          <a:solidFill>
            <a:srgbClr val="FFF9E6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0" y="4718304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store (1 cart, no tax)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211312" y="471830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9674352" y="471830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11137392" y="4718304"/>
            <a:ext cx="704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−$30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650992" y="5239512"/>
            <a:ext cx="6190488" cy="576072"/>
          </a:xfrm>
          <a:prstGeom prst="rect">
            <a:avLst/>
          </a:prstGeom>
          <a:solidFill>
            <a:srgbClr val="E8F4EC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0720" y="5312664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Multi-cart / complex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8211312" y="531266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$265–583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9674352" y="531266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11137392" y="5312664"/>
            <a:ext cx="704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$65+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650992" y="6080760"/>
            <a:ext cx="6190488" cy="53035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88152" y="6126480"/>
            <a:ext cx="5916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DUMAC required by specific retailers — not a discretionary substitution for Truno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411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5.1 · PROPOSED CHANGES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138160" y="411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PROGRAM ·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274320"/>
            <a:ext cx="548640" cy="34747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6385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420624"/>
            <a:ext cx="11475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RT 5.1 — Proposed Changes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7472" y="1316736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improvements to RSA process, accountability, and data visibility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783080"/>
            <a:ext cx="55778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783080"/>
            <a:ext cx="5577840" cy="50292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8745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490472" y="1984248"/>
            <a:ext cx="4270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LOGGING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2064" y="2496312"/>
            <a:ext cx="5248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Direct Login to W&amp;M Inspection Flow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12064" y="2953512"/>
            <a:ext cx="5248656" cy="22860"/>
          </a:xfrm>
          <a:prstGeom prst="rect">
            <a:avLst/>
          </a:prstGeom>
          <a:solidFill>
            <a:srgbClr val="E8E8E0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3026664"/>
            <a:ext cx="52486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staff authenticate directly into the Weights &amp; Measures inspection interface, enabling system-generated audit logs tied to each inspection event — eliminating manual log submissions and ensuring traceable, timestamped records per visit.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91072" y="1783080"/>
            <a:ext cx="55778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1783080"/>
            <a:ext cx="5577840" cy="50292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18745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434072" y="1984248"/>
            <a:ext cx="4270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ACCOUNTABILITY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55664" y="2496312"/>
            <a:ext cx="5248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Retailer-Owned Coffee Break Process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55664" y="2953512"/>
            <a:ext cx="5248656" cy="22860"/>
          </a:xfrm>
          <a:prstGeom prst="rect">
            <a:avLst/>
          </a:prstGeom>
          <a:solidFill>
            <a:srgbClr val="E8E8E0"/>
          </a:solidFill>
          <a:ln/>
        </p:spPr>
      </p:sp>
      <p:sp>
        <p:nvSpPr>
          <p:cNvPr id="22" name="Text 20"/>
          <p:cNvSpPr/>
          <p:nvPr/>
        </p:nvSpPr>
        <p:spPr>
          <a:xfrm>
            <a:off x="6455664" y="3026664"/>
            <a:ext cx="52486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take direct ownership of cart coffee break reminders and scheduling. Caper Teams no longer required to intervene or coordinate — reducing operational dependency and freeing capacity for escalation-only support.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4343400"/>
            <a:ext cx="55778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4343400"/>
            <a:ext cx="5577840" cy="50292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44348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490472" y="4544568"/>
            <a:ext cx="4270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INTEGRATION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2064" y="5056632"/>
            <a:ext cx="5248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Log Integration into ROVI Platform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12064" y="5513832"/>
            <a:ext cx="5248656" cy="22860"/>
          </a:xfrm>
          <a:prstGeom prst="rect">
            <a:avLst/>
          </a:prstGeom>
          <a:solidFill>
            <a:srgbClr val="E8E8E0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" y="5586984"/>
            <a:ext cx="52486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logs generated through the W&amp;M flow are piped directly into the ROVI platform, creating a single source of truth for compliance data across all retail accounts — enabling real-time status and exception tracking.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91072" y="4343400"/>
            <a:ext cx="55778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91072" y="4343400"/>
            <a:ext cx="5577840" cy="50292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32" name="Text 30"/>
          <p:cNvSpPr/>
          <p:nvPr/>
        </p:nvSpPr>
        <p:spPr>
          <a:xfrm>
            <a:off x="6455664" y="44348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7434072" y="4544568"/>
            <a:ext cx="4270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REPORTING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55664" y="5056632"/>
            <a:ext cx="5248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Log Migration to Mode Dashboard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455664" y="5513832"/>
            <a:ext cx="5248656" cy="22860"/>
          </a:xfrm>
          <a:prstGeom prst="rect">
            <a:avLst/>
          </a:prstGeom>
          <a:solidFill>
            <a:srgbClr val="E8E8E0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5586984"/>
            <a:ext cx="52486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historical and ongoing RSA inspection logs migrated into Mode for structured reporting. Directors and ops managers gain self-serve visibility into visit trends, compliance rates, and vendor performance without manual data pulls.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411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138160" y="411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PROGRAM ·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274320"/>
            <a:ext cx="548640" cy="34747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6385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420624"/>
            <a:ext cx="11475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1C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47472" y="1444752"/>
            <a:ext cx="3785616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444752"/>
            <a:ext cx="3785616" cy="91440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481328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2064" y="2029968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60 Days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487168"/>
            <a:ext cx="3529584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approved-vendor list by retailer (with CSM)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Winter Scales NJ offset vs. Truno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$32K missing invoices + $15K duplicate risk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legacy GAS triggers (migrated to Python)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DUMAC routing to RSA 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444752"/>
            <a:ext cx="3785616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444752"/>
            <a:ext cx="3785616" cy="91440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15" name="Text 13"/>
          <p:cNvSpPr/>
          <p:nvPr/>
        </p:nvSpPr>
        <p:spPr>
          <a:xfrm>
            <a:off x="4462272" y="1481328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62272" y="2029968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60–180 Days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62272" y="2487168"/>
            <a:ext cx="3529584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Scales status tracking in RSA Agent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GAS endpoints (eliminate dual-writer risk)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 invoice reconciliation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Webapp: per-vendor views, stale-cart aging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nudges &amp; daily gap report in Python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47888" y="1444752"/>
            <a:ext cx="3785616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47888" y="1444752"/>
            <a:ext cx="3785616" cy="914400"/>
          </a:xfrm>
          <a:prstGeom prst="rect">
            <a:avLst/>
          </a:prstGeom>
          <a:solidFill>
            <a:srgbClr val="1D3A2F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481328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412480" y="2029968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2487168"/>
            <a:ext cx="3529584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vendor optimization by region &amp; retailer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scheduling from launch pipeline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architecture (beyond Google Sheets)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in-house economics at 200+ stores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62E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411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7D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138160" y="411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PROGRAM ·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274320"/>
            <a:ext cx="548640" cy="34747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0" y="66385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420624"/>
            <a:ext cx="11475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47472" y="1371600"/>
            <a:ext cx="11475720" cy="22860"/>
          </a:xfrm>
          <a:prstGeom prst="rect">
            <a:avLst/>
          </a:prstGeom>
          <a:solidFill>
            <a:srgbClr val="2D5040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" y="1545336"/>
            <a:ext cx="603504" cy="603504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563624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5568" y="152704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Formalize the Multi-Vendor Model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210312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Truno (national default), DUMAC (retailer-mandated accounts), and Winter Scales (NJ). Finalize the approved-vendor list with CSM — the compliance requirement is immediate and real.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3118104"/>
            <a:ext cx="11475720" cy="22860"/>
          </a:xfrm>
          <a:prstGeom prst="rect">
            <a:avLst/>
          </a:prstGeom>
          <a:solidFill>
            <a:srgbClr val="2D5040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" y="3236976"/>
            <a:ext cx="603504" cy="603504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3255264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15568" y="321868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 the Savings Already on the Table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15568" y="379476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~$5,400 in voided-visit re-visits, $1,100 from Blackthorn, and ~$8,100/yr DUMAC vs. Truno delta are recoverable now. Resolve $32K in missing invoices and $15K in duplicate-payment risk before the next payment cycle.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" y="4809744"/>
            <a:ext cx="11475720" cy="22860"/>
          </a:xfrm>
          <a:prstGeom prst="rect">
            <a:avLst/>
          </a:prstGeom>
          <a:solidFill>
            <a:srgbClr val="2D5040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" y="4928616"/>
            <a:ext cx="603504" cy="603504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4946904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15568" y="491032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 ROVI / Automation Investment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15568" y="548640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RSA Agent (ROVI) is the force multiplier for any vendor model. Next priorities: DUMAC routing, Winter Scales tracking, and completing the GAS-to-Python migration to eliminate remaining manual touchpoints.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" y="6565392"/>
            <a:ext cx="11475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Program  ·  July 2026  ·  Instacart / Maplebear Inc.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RSA Program — Future Direction</dc:title>
  <dc:subject>PptxGenJS Presentation</dc:subject>
  <dc:creator>Sai</dc:creator>
  <cp:lastModifiedBy>Sai</cp:lastModifiedBy>
  <cp:revision>1</cp:revision>
  <dcterms:created xsi:type="dcterms:W3CDTF">2026-07-13T18:57:15Z</dcterms:created>
  <dcterms:modified xsi:type="dcterms:W3CDTF">2026-07-13T18:57:15Z</dcterms:modified>
</cp:coreProperties>
</file>